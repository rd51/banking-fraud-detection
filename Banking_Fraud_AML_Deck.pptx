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Fine (USD bn)</c:v>
                </c:pt>
              </c:strCache>
            </c:strRef>
          </c:tx>
          <c:spPr>
            <a:solidFill>
              <a:srgbClr val="006D6D"/>
            </a:solidFill>
          </c:spPr>
          <c:cat>
            <c:strRef>
              <c:f>Sheet1!$A$2:$A$5</c:f>
              <c:strCache>
                <c:ptCount val="4"/>
                <c:pt idx="0">
                  <c:v>TD Bank</c:v>
                </c:pt>
                <c:pt idx="1">
                  <c:v>HSBC</c:v>
                </c:pt>
                <c:pt idx="2">
                  <c:v>Swiss Bank</c:v>
                </c:pt>
                <c:pt idx="3">
                  <c:v>OKX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3.09</c:v>
                </c:pt>
                <c:pt idx="1">
                  <c:v>1.9</c:v>
                </c:pt>
                <c:pt idx="2">
                  <c:v>0.985</c:v>
                </c:pt>
                <c:pt idx="3">
                  <c:v>0.504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EF4444"/>
            </a:solidFill>
          </c:spPr>
          <c:cat>
            <c:strRef>
              <c:f>Sheet1!$A$2:$A$5</c:f>
              <c:strCache>
                <c:ptCount val="4"/>
                <c:pt idx="0">
                  <c:v>Rule-Based</c:v>
                </c:pt>
                <c:pt idx="1">
                  <c:v>XGBoost</c:v>
                </c:pt>
                <c:pt idx="2">
                  <c:v>Simple RNN</c:v>
                </c:pt>
                <c:pt idx="3">
                  <c:v>LSTM+Ensemble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0.62</c:v>
                </c:pt>
                <c:pt idx="1">
                  <c:v>0.985</c:v>
                </c:pt>
                <c:pt idx="2">
                  <c:v>0.94</c:v>
                </c:pt>
                <c:pt idx="3">
                  <c:v>0.995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06D6D"/>
            </a:solidFill>
          </c:spPr>
          <c:cat>
            <c:strRef>
              <c:f>Sheet1!$A$2:$A$5</c:f>
              <c:strCache>
                <c:ptCount val="4"/>
                <c:pt idx="0">
                  <c:v>Rule-Based</c:v>
                </c:pt>
                <c:pt idx="1">
                  <c:v>XGBoost</c:v>
                </c:pt>
                <c:pt idx="2">
                  <c:v>Simple RNN</c:v>
                </c:pt>
                <c:pt idx="3">
                  <c:v>LSTM+Ensemble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0.55</c:v>
                </c:pt>
                <c:pt idx="1">
                  <c:v>0.97</c:v>
                </c:pt>
                <c:pt idx="2">
                  <c:v>0.9</c:v>
                </c:pt>
                <c:pt idx="3">
                  <c:v>0.991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Sheet1!$A$2:$A$5</c:f>
              <c:strCache>
                <c:ptCount val="4"/>
                <c:pt idx="0">
                  <c:v>Rule-Based</c:v>
                </c:pt>
                <c:pt idx="1">
                  <c:v>XGBoost</c:v>
                </c:pt>
                <c:pt idx="2">
                  <c:v>Simple RNN</c:v>
                </c:pt>
                <c:pt idx="3">
                  <c:v>LSTM+Ensemble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</c:v>
                </c:pt>
                <c:pt idx="1">
                  <c:v>0.96</c:v>
                </c:pt>
                <c:pt idx="2">
                  <c:v>0.88</c:v>
                </c:pt>
                <c:pt idx="3">
                  <c:v>0.988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45720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Banking Fraud Detection &amp; AML</a:t>
            </a:r>
          </a:p>
          <a:p>
            <a:pPr>
              <a:defRPr sz="2600">
                <a:solidFill>
                  <a:srgbClr val="4FD1C5"/>
                </a:solidFill>
              </a:defRPr>
            </a:pPr>
            <a:r>
              <a:t>LSTM RNN for Transaction Sequence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F59E0B"/>
                </a:solidFill>
              </a:defRPr>
            </a:pPr>
            <a:r>
              <a:t>From USD 3.09 Billion Fine to Real-Time Detection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SP Jain MAIB  |  Deep Learning Group Project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The Global Problem</a:t>
            </a:r>
          </a:p>
          <a:p>
            <a:pPr>
              <a:defRPr sz="1400">
                <a:solidFill>
                  <a:srgbClr val="4FD1C5"/>
                </a:solidFill>
              </a:defRPr>
            </a:pPr>
            <a:r>
              <a:t>Money laundering at planetary scale, detection in single digits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FATF / UNODC: USD 800 billion – 2 trillion laundered annually (2–5% of global GDP)</a:t>
            </a:r>
          </a:p>
          <a:p>
            <a:pPr lvl="1"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–  Less than 1% of illicit flows are detected or seized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Fenergo: USD 4.6 billion in AML/sanctions fines in 2024</a:t>
            </a:r>
          </a:p>
          <a:p>
            <a:pPr lvl="1"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–  H1 2025 fines up 417% year-on-year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Recent enforcement actions (USD):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0" y="3657600"/>
          <a:ext cx="77724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06D6D"/>
                </a:solidFill>
              </a:defRPr>
            </a:pPr>
            <a:r>
              <a:t>Sources: FATF/UNODC 2024; Fenergo Global AML Fines Report 2025; DOJ/FinCEN/OCC press releases 2024.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Case Study: TD Bank — USD 3.09 B (Oct 2024)</a:t>
            </a:r>
          </a:p>
          <a:p>
            <a:pPr>
              <a:defRPr sz="1400">
                <a:solidFill>
                  <a:srgbClr val="4FD1C5"/>
                </a:solidFill>
              </a:defRPr>
            </a:pPr>
            <a:r>
              <a:t>Largest BSA penalty in U.S. history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Root cause: a deliberately under-resourced transaction-monitoring programme</a:t>
            </a:r>
          </a:p>
          <a:p>
            <a:pPr lvl="1"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–  92% of transaction volume — ~USD 18.3 trillion — went unmonitored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USD 670 million laundered across three identified criminal networks</a:t>
            </a:r>
          </a:p>
          <a:p>
            <a:pPr lvl="1"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–  Employees bribed with gift cards to process illicit transfers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Static, rule-based monitoring had no concept of behavioural sequence</a:t>
            </a:r>
          </a:p>
          <a:p>
            <a:pPr lvl="1"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–  Structured deposits below thresholds were individually 'compliant'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06D6D"/>
                </a:solidFill>
              </a:defRPr>
            </a:pPr>
            <a:r>
              <a:t>Sources: U.S. DOJ, FinCEN, OCC and Federal Reserve enforcement actions, October 2024.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Case Study: HSBC (USD 1.9 B) + OKX (USD 504 M)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HSBC — USD 1.9 billion (2012, ongoing remediation):</a:t>
            </a:r>
          </a:p>
          <a:p>
            <a:pPr lvl="1"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–  Siloed regional systems with no shared customer view</a:t>
            </a:r>
          </a:p>
          <a:p>
            <a:pPr lvl="1"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–  Drug-cartel proceeds and sanctioned-nation flows passed undetected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OKX — USD 504 million (2025):</a:t>
            </a:r>
          </a:p>
          <a:p>
            <a:pPr lvl="1"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–  ~USD 5 billion in suspicious crypto flows; KYC effectively absent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Common failure mode across all three: ZERO sequence memory</a:t>
            </a:r>
          </a:p>
          <a:p>
            <a:pPr lvl="1"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–  Each transaction judged in isolation, never as a behavioural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06D6D"/>
                </a:solidFill>
              </a:defRPr>
            </a:pPr>
            <a:r>
              <a:t>Sources: Al Jazeera / U.S. DOJ (HSBC); U.S. DOJ (OKX, 2025); AML Intelligence.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The Gap: Why Rule-Based Systems Fail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5303520" cy="4480560"/>
          </a:xfrm>
          <a:prstGeom prst="rect">
            <a:avLst/>
          </a:prstGeom>
          <a:solidFill>
            <a:srgbClr val="F2F5F9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Rule-Based System</a:t>
            </a:r>
          </a:p>
          <a:p>
            <a:pPr>
              <a:spcAft>
                <a:spcPts val="500"/>
              </a:spcAft>
              <a:defRPr sz="1500">
                <a:solidFill>
                  <a:srgbClr val="1A1A1A"/>
                </a:solidFill>
              </a:defRPr>
            </a:pPr>
            <a:r>
              <a:t>•  Static thresholds (e.g. &gt; USD 10,000)</a:t>
            </a:r>
          </a:p>
          <a:p>
            <a:pPr>
              <a:spcAft>
                <a:spcPts val="500"/>
              </a:spcAft>
              <a:defRPr sz="1500">
                <a:solidFill>
                  <a:srgbClr val="1A1A1A"/>
                </a:solidFill>
              </a:defRPr>
            </a:pPr>
            <a:r>
              <a:t>•  Each transaction scored independently</a:t>
            </a:r>
          </a:p>
          <a:p>
            <a:pPr>
              <a:spcAft>
                <a:spcPts val="500"/>
              </a:spcAft>
              <a:defRPr sz="1500">
                <a:solidFill>
                  <a:srgbClr val="1A1A1A"/>
                </a:solidFill>
              </a:defRPr>
            </a:pPr>
            <a:r>
              <a:t>•  Trivially evaded by structuring / smurfing</a:t>
            </a:r>
          </a:p>
          <a:p>
            <a:pPr>
              <a:spcAft>
                <a:spcPts val="500"/>
              </a:spcAft>
              <a:defRPr sz="1500">
                <a:solidFill>
                  <a:srgbClr val="1A1A1A"/>
                </a:solidFill>
              </a:defRPr>
            </a:pPr>
            <a:r>
              <a:t>•  ~90% false-positive rate → analyst fatigue</a:t>
            </a:r>
          </a:p>
          <a:p>
            <a:pPr>
              <a:spcAft>
                <a:spcPts val="500"/>
              </a:spcAft>
              <a:defRPr sz="1500">
                <a:solidFill>
                  <a:srgbClr val="1A1A1A"/>
                </a:solidFill>
              </a:defRPr>
            </a:pPr>
            <a:r>
              <a:t>•  No memory of account behaviour over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554480"/>
            <a:ext cx="5303520" cy="4480560"/>
          </a:xfrm>
          <a:prstGeom prst="rect">
            <a:avLst/>
          </a:prstGeom>
          <a:solidFill>
            <a:srgbClr val="F2F5F9"/>
          </a:solidFill>
          <a:ln>
            <a:solidFill>
              <a:srgbClr val="00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2000" b="1">
                <a:solidFill>
                  <a:srgbClr val="006D6D"/>
                </a:solidFill>
              </a:defRPr>
            </a:pPr>
            <a:r>
              <a:t>LSTM Sequence Model</a:t>
            </a:r>
          </a:p>
          <a:p>
            <a:pPr>
              <a:spcAft>
                <a:spcPts val="500"/>
              </a:spcAft>
              <a:defRPr sz="1500">
                <a:solidFill>
                  <a:srgbClr val="1A1A1A"/>
                </a:solidFill>
              </a:defRPr>
            </a:pPr>
            <a:r>
              <a:t>•  Learns the 90-day behavioural fingerprint</a:t>
            </a:r>
          </a:p>
          <a:p>
            <a:pPr>
              <a:spcAft>
                <a:spcPts val="500"/>
              </a:spcAft>
              <a:defRPr sz="1500">
                <a:solidFill>
                  <a:srgbClr val="1A1A1A"/>
                </a:solidFill>
              </a:defRPr>
            </a:pPr>
            <a:r>
              <a:t>•  Scores a transaction in context of its history</a:t>
            </a:r>
          </a:p>
          <a:p>
            <a:pPr>
              <a:spcAft>
                <a:spcPts val="500"/>
              </a:spcAft>
              <a:defRPr sz="1500">
                <a:solidFill>
                  <a:srgbClr val="1A1A1A"/>
                </a:solidFill>
              </a:defRPr>
            </a:pPr>
            <a:r>
              <a:t>•  Detects layering even when each step looks normal</a:t>
            </a:r>
          </a:p>
          <a:p>
            <a:pPr>
              <a:spcAft>
                <a:spcPts val="500"/>
              </a:spcAft>
              <a:defRPr sz="1500">
                <a:solidFill>
                  <a:srgbClr val="1A1A1A"/>
                </a:solidFill>
              </a:defRPr>
            </a:pPr>
            <a:r>
              <a:t>•  Far fewer false positives at equal recall</a:t>
            </a:r>
          </a:p>
          <a:p>
            <a:pPr>
              <a:spcAft>
                <a:spcPts val="500"/>
              </a:spcAft>
              <a:defRPr sz="1500">
                <a:solidFill>
                  <a:srgbClr val="1A1A1A"/>
                </a:solidFill>
              </a:defRPr>
            </a:pPr>
            <a:r>
              <a:t>•  Gated cell state remembers what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06D6D"/>
                </a:solidFill>
              </a:defRPr>
            </a:pPr>
            <a:r>
              <a:t>False-positive figure: industry AML benchmarks (Fenergo, Celent).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Architecture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CNN (Conv1D): right for local motifs, wrong as a standalone for tabular PaySim</a:t>
            </a:r>
          </a:p>
          <a:p>
            <a:pPr lvl="1"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–  Used here as a front-end feature extractor, not the whole model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Simple RNN: suffers vanishing gradients on longer windows</a:t>
            </a:r>
          </a:p>
          <a:p>
            <a:pPr lvl="1"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–  Retained only as a baseline competitor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LSTM RNN (chosen): gated memory carries a 90-day fingerprint</a:t>
            </a:r>
          </a:p>
          <a:p>
            <a:pPr lvl="1"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–  Forget/input/output gates + cell-state highway solve vanishing gradient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Enhanced with Multi-Head Attention + XGBoost stacking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Full Architecture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0"/>
            <a:ext cx="1371600" cy="1280160"/>
          </a:xfrm>
          <a:prstGeom prst="rect">
            <a:avLst/>
          </a:prstGeom>
          <a:solidFill>
            <a:srgbClr val="006D6D"/>
          </a:solidFill>
          <a:ln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Conv1D</a:t>
            </a:r>
            <a:br/>
            <a:r>
              <a:t>64, s1</a:t>
            </a:r>
          </a:p>
        </p:txBody>
      </p:sp>
      <p:sp>
        <p:nvSpPr>
          <p:cNvPr id="5" name="Rectangle 4"/>
          <p:cNvSpPr/>
          <p:nvPr/>
        </p:nvSpPr>
        <p:spPr>
          <a:xfrm>
            <a:off x="1792224" y="2011680"/>
            <a:ext cx="1371600" cy="1280160"/>
          </a:xfrm>
          <a:prstGeom prst="rect">
            <a:avLst/>
          </a:prstGeom>
          <a:solidFill>
            <a:srgbClr val="006D6D"/>
          </a:solidFill>
          <a:ln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Conv1D</a:t>
            </a:r>
            <a:br/>
            <a:r>
              <a:t>32, s2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18688" y="2011680"/>
            <a:ext cx="1371600" cy="1280160"/>
          </a:xfrm>
          <a:prstGeom prst="rect">
            <a:avLst/>
          </a:prstGeom>
          <a:solidFill>
            <a:srgbClr val="006D6D"/>
          </a:solidFill>
          <a:ln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LSTM 64</a:t>
            </a:r>
          </a:p>
        </p:txBody>
      </p:sp>
      <p:sp>
        <p:nvSpPr>
          <p:cNvPr id="7" name="Rectangle 6"/>
          <p:cNvSpPr/>
          <p:nvPr/>
        </p:nvSpPr>
        <p:spPr>
          <a:xfrm>
            <a:off x="4645152" y="2011680"/>
            <a:ext cx="1371600" cy="1280160"/>
          </a:xfrm>
          <a:prstGeom prst="rect">
            <a:avLst/>
          </a:prstGeom>
          <a:solidFill>
            <a:srgbClr val="006D6D"/>
          </a:solidFill>
          <a:ln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LSTM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1616" y="2011680"/>
            <a:ext cx="1371600" cy="1280160"/>
          </a:xfrm>
          <a:prstGeom prst="rect">
            <a:avLst/>
          </a:prstGeom>
          <a:solidFill>
            <a:srgbClr val="006D6D"/>
          </a:solidFill>
          <a:ln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Multi-Head</a:t>
            </a:r>
            <a:br/>
            <a:r>
              <a:t>Attention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0" y="2011680"/>
            <a:ext cx="1371600" cy="1280160"/>
          </a:xfrm>
          <a:prstGeom prst="rect">
            <a:avLst/>
          </a:prstGeom>
          <a:solidFill>
            <a:srgbClr val="006D6D"/>
          </a:solidFill>
          <a:ln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Dense 32</a:t>
            </a:r>
            <a:br/>
            <a:r>
              <a:t>latent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24544" y="2011680"/>
            <a:ext cx="1371600" cy="1280160"/>
          </a:xfrm>
          <a:prstGeom prst="rect">
            <a:avLst/>
          </a:prstGeom>
          <a:solidFill>
            <a:srgbClr val="F59E0B"/>
          </a:solidFill>
          <a:ln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XGBoost</a:t>
            </a:r>
            <a:br/>
            <a:r>
              <a:t>ensemble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51008" y="2011680"/>
            <a:ext cx="1371600" cy="1280160"/>
          </a:xfrm>
          <a:prstGeom prst="rect">
            <a:avLst/>
          </a:prstGeom>
          <a:solidFill>
            <a:srgbClr val="F59E0B"/>
          </a:solidFill>
          <a:ln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Fraud</a:t>
            </a:r>
            <a:br/>
            <a:r>
              <a:t>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•  Conv1D ×2 — fine then downsampled transaction-pattern feature maps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•  LSTM ×2 — gated behavioural memory across the window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•  Attention — global dependency capture across timesteps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•  XGBoost — stacks LSTM latent (32-d) + raw tabular (8-d) into the final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The Transformer Enhancement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Multi-Head Self-Attention:  softmax(QKᵀ / √dₖ) · V</a:t>
            </a:r>
          </a:p>
          <a:p>
            <a:pPr lvl="1"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–  Q = W_Q·H,  K = W_K·H,  V = W_V·H ; heads = 4, key_dim = 16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LSTM handles LOCAL sequential memory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Attention handles GLOBAL dependencies between any two timesteps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Encoder-only architecture — classification needs no decoder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Residual connection + layer norm stabilise training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Complexity O(n²·d): cheap for our short windows (n = 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Ensemble: XGBoost Stacking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LSTM acts as a learned feature extractor (32-dim latent vector)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XGBoost meta-learner trains on  concat[ latent (32) , raw tabular (8) ]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Objective:  L = Σ l(ŷ,y) + Σ Ω(f),   Ω(f) = γT + ½λ‖w‖²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Why it beats either alone:</a:t>
            </a:r>
          </a:p>
          <a:p>
            <a:pPr lvl="1"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–  LSTM captures temporal structure the trees cannot see</a:t>
            </a:r>
          </a:p>
          <a:p>
            <a:pPr lvl="1"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–  XGBoost captures sharp tabular thresholds the LSTM smooths over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Top features typically: errorBalanceOrig, amount, latent temporal dims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Results &amp; Error Ceiling</a:t>
            </a:r>
          </a:p>
          <a:p>
            <a:pPr>
              <a:defRPr sz="1400">
                <a:solidFill>
                  <a:srgbClr val="4FD1C5"/>
                </a:solidFill>
              </a:defRPr>
            </a:pPr>
            <a:r>
              <a:t>F1 ≥ 0.97 · Recall ≥ 0.97 · AUC ≥ 0.97  (error ≤ 3%)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7315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46720" y="182880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•  Green zone: LSTM+Ensemble clears all three ceilings → DEPLOY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•  Red zone: Rule-Based &amp; Simple RNN fail → REJECT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•  Live red/green monitor enforces the 3% error ceiling on the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06D6D"/>
                </a:solidFill>
              </a:defRPr>
            </a:pPr>
            <a:r>
              <a:t>Indicative results on a balanced PaySim slice; reproduce live via the dashboard's Model Battle tab.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Live Dashboard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Six-tab Streamlit dashboard:</a:t>
            </a:r>
          </a:p>
          <a:p>
            <a:pPr lvl="1"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–  Training Data · Architecture · Fine-Tuning · Model Battle · Continuous Training/MCP · Maths &amp; CS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MCP agent pipeline: feature-eng → sequence → Conv1D → LSTM → attention → XGBoost → decision</a:t>
            </a:r>
          </a:p>
          <a:p>
            <a:pPr lvl="1"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–  Routing: CLEAR &lt; 0.30 · REVIEW 0.30–0.70 · FREEZE &gt; 0.70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 Deployment:</a:t>
            </a:r>
          </a:p>
          <a:p>
            <a:pPr lvl="1"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–  docker-compose up --build  →  http://localhost:8501</a:t>
            </a:r>
          </a:p>
          <a:p>
            <a:pPr lvl="1"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–  PaySim mounted as a volume; all training cached on hyperparameters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1. TD Bank settlement — U.S. DOJ, FinCEN, OCC, Federal Reserve (Oct 2024)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2. HSBC USD 1.9B — Al Jazeera / U.S. DOJ; AML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3. OKX USD 504M — U.S. DOJ (2025)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4. Fenergo Global AML &amp; Sanctions Fines Report (2025)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5. FATF / UNODC — Money Laundering estimates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6. arXiv (2025) — sequence models for financial fraud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7. JPMorgan AI in AML — The Silicon Review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8. HSBC AML programme — AML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9. PaySim dataset — Kaggle (ealaxi/paysim1)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10. IEEE-CIS Fraud Detection — Kaggle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11. Elliptic Bitcoin dataset — Kaggle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12. MIDV-500 document dataset — arXiv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